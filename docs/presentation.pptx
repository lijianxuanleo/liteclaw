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Gemini_Generated_Image_k4eix1k4eix1k4ei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3365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113030" y="285750"/>
            <a:ext cx="4572000" cy="4572000"/>
          </a:xfrm>
          <a:prstGeom prst="ellipse">
            <a:avLst/>
          </a:prstGeom>
          <a:solidFill>
            <a:srgbClr val="3B82F6">
              <a:alpha val="1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3B82F6">
              <a:alpha val="1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LiteClaw</a:t>
            </a:r>
            <a:endParaRPr lang="en-US" sz="4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WhatsApp-Driven GenAI Agent Framework</a:t>
            </a:r>
            <a:endParaRPr lang="en-US" sz="2200" dirty="0">
              <a:solidFill>
                <a:schemeClr val="accent1">
                  <a:lumMod val="40000"/>
                  <a:lumOff val="6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798258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1800" i="1" dirty="0">
                <a:solidFill>
                  <a:schemeClr val="accent3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Practical Everyday AI Assistant </a:t>
            </a:r>
            <a:r>
              <a:rPr lang="en-US" sz="1800" i="1" dirty="0">
                <a:solidFill>
                  <a:schemeClr val="accent3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Real-World Interaction via WhatsApp</a:t>
            </a:r>
            <a:endParaRPr lang="en-US" sz="1800" i="1" dirty="0">
              <a:solidFill>
                <a:schemeClr val="accent3">
                  <a:lumMod val="40000"/>
                  <a:lumOff val="6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3291840"/>
            <a:ext cx="27432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52044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ROSE5780 GenAI Technologies and RPA </a:t>
            </a:r>
            <a:endParaRPr lang="en-US" sz="1400" dirty="0">
              <a:solidFill>
                <a:schemeClr val="tx2">
                  <a:lumMod val="40000"/>
                  <a:lumOff val="6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algn="l">
              <a:buClrTx/>
              <a:buSzTx/>
              <a:buFontTx/>
              <a:buNone/>
            </a:pPr>
            <a:r>
              <a:rPr lang="en-US" sz="1400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1155245465 LI Jianxuan</a:t>
            </a:r>
            <a:endParaRPr lang="en-US" sz="1400" dirty="0">
              <a:solidFill>
                <a:schemeClr val="tx2">
                  <a:lumMod val="40000"/>
                  <a:lumOff val="6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 3"/>
          <p:cNvSpPr/>
          <p:nvPr/>
        </p:nvSpPr>
        <p:spPr>
          <a:xfrm>
            <a:off x="8437245" y="4606925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1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 descr="Gemini_Generated_Image_y7iph7y7iph7y7i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635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Current AI Agents Do Not Fit Everyday Life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37245" y="4606925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2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915670"/>
            <a:ext cx="4114800" cy="244856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05156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6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Everyday Reality</a:t>
            </a:r>
            <a:endParaRPr lang="en-US" sz="1500" b="1" dirty="0">
              <a:solidFill>
                <a:schemeClr val="accent6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417320"/>
            <a:ext cx="3840480" cy="1554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assistant needs happen during </a:t>
            </a: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micro-moments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Commuting to work or school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between classes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in a queue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sleep — quick ideas or reminders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these moments, sending a message is more natural than opening a dashboard or terminal.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37760" y="1417320"/>
            <a:ext cx="384048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11" name="Text 9"/>
          <p:cNvSpPr/>
          <p:nvPr/>
        </p:nvSpPr>
        <p:spPr>
          <a:xfrm>
            <a:off x="5029200" y="1453896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</a:rPr>
              <a:t>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49240" y="1453896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heavy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customize for personal use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3" name="Shape 11"/>
          <p:cNvSpPr/>
          <p:nvPr/>
        </p:nvSpPr>
        <p:spPr>
          <a:xfrm>
            <a:off x="4937760" y="1920240"/>
            <a:ext cx="384048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4" name="Text 12"/>
          <p:cNvSpPr/>
          <p:nvPr/>
        </p:nvSpPr>
        <p:spPr>
          <a:xfrm>
            <a:off x="5029200" y="1956816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</a:rPr>
              <a:t>✖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49240" y="1956816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risky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everyday</a:t>
            </a: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device interaction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2423160"/>
            <a:ext cx="384048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17" name="Text 15"/>
          <p:cNvSpPr/>
          <p:nvPr/>
        </p:nvSpPr>
        <p:spPr>
          <a:xfrm>
            <a:off x="5029200" y="2459736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</a:rPr>
              <a:t>✖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49240" y="2459736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desktop-dependent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mobile micro-moments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37760" y="2926080"/>
            <a:ext cx="384048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" name="Text 18"/>
          <p:cNvSpPr/>
          <p:nvPr/>
        </p:nvSpPr>
        <p:spPr>
          <a:xfrm>
            <a:off x="5029200" y="2962656"/>
            <a:ext cx="274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F4444"/>
                </a:solidFill>
              </a:rPr>
              <a:t>✖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2962656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costly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become a daily habit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8046720" cy="594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E2761"/>
                </a:solidFill>
              </a14:hiddenFill>
            </a:ext>
          </a:extLst>
        </p:spPr>
      </p:sp>
      <p:sp>
        <p:nvSpPr>
          <p:cNvPr id="23" name="Text 21"/>
          <p:cNvSpPr/>
          <p:nvPr/>
        </p:nvSpPr>
        <p:spPr>
          <a:xfrm>
            <a:off x="535940" y="3867785"/>
            <a:ext cx="8242300" cy="5486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sub-2,</a:t>
            </a: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000-line framework deliver secure, WhatsApp-native AI assistance with free LLM support?</a:t>
            </a:r>
            <a:endParaRPr lang="en-US" sz="1300" b="1" dirty="0"/>
          </a:p>
        </p:txBody>
      </p:sp>
      <p:sp>
        <p:nvSpPr>
          <p:cNvPr id="9" name="Text 7"/>
          <p:cNvSpPr/>
          <p:nvPr/>
        </p:nvSpPr>
        <p:spPr>
          <a:xfrm>
            <a:off x="5120640" y="99695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Existing Agents Fall Short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Gemini_Generated_Image_fhru4kfhru4kfhru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Gap: Powerful Frameworks vs. Everyday Usability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37245" y="462915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3</a:t>
            </a:r>
            <a:endParaRPr lang="en-US" sz="1000" dirty="0">
              <a:solidFill>
                <a:schemeClr val="bg1"/>
              </a:solidFill>
            </a:endParaRPr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051560"/>
          <a:ext cx="4572000" cy="155448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4865"/>
                <a:gridCol w="683895"/>
                <a:gridCol w="9144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</a:t>
                      </a: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LLM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Daily-Use Fit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OpenClaw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AutoGPT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NanoClaw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~3.9K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bots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94960" y="1051560"/>
            <a:ext cx="3383280" cy="338328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94960" y="1051560"/>
            <a:ext cx="54864" cy="338328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0" name="Text 7"/>
          <p:cNvSpPr/>
          <p:nvPr/>
        </p:nvSpPr>
        <p:spPr>
          <a:xfrm>
            <a:off x="5577840" y="10972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Gap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577840" y="14173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solution combines lightweight code, WhatsApp-native delivery, agent reasoning, local tools, and various LLM support.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577840" y="2103120"/>
            <a:ext cx="283464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77840" y="22402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Solution: LiteClaw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577840" y="2606040"/>
            <a:ext cx="301752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~1,800 lines of TypeScript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WhatsApp-native via Baileys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(bounded &amp; safe)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LLM (Groq, Gemini)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micro-task tools + AuthZ wall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589020"/>
            <a:ext cx="4160520" cy="8458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LiteClaw is designed as a lightweight, safe, WhatsApp-native personal AI assistant.</a:t>
            </a:r>
            <a:endParaRPr lang="en-US" sz="1300" b="1" i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 descr="Gemini_Generated_Image_6wthxl6wthxl6wth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System Architecture: One Message, One Bounded Action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37245" y="4608195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4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1463040" cy="731520"/>
          </a:xfrm>
          <a:prstGeom prst="rect">
            <a:avLst/>
          </a:prstGeom>
          <a:solidFill>
            <a:srgbClr val="10B981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207008"/>
            <a:ext cx="14630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1188720"/>
            <a:ext cx="1463040" cy="731520"/>
          </a:xfrm>
          <a:prstGeom prst="rect">
            <a:avLst/>
          </a:prstGeom>
          <a:solidFill>
            <a:srgbClr val="3B82F6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11680" y="1207008"/>
            <a:ext cx="14630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49040" y="1188720"/>
            <a:ext cx="1463040" cy="731520"/>
          </a:xfrm>
          <a:prstGeom prst="rect">
            <a:avLst/>
          </a:prstGeom>
          <a:solidFill>
            <a:srgbClr val="EF4444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49040" y="1207008"/>
            <a:ext cx="14630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AuthZ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188720"/>
            <a:ext cx="1463040" cy="731520"/>
          </a:xfrm>
          <a:prstGeom prst="rect">
            <a:avLst/>
          </a:prstGeom>
          <a:solidFill>
            <a:srgbClr val="8B5CF6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0" y="1207008"/>
            <a:ext cx="14630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23760" y="1188720"/>
            <a:ext cx="1463040" cy="731520"/>
          </a:xfrm>
          <a:prstGeom prst="rect">
            <a:avLst/>
          </a:prstGeom>
          <a:solidFill>
            <a:srgbClr val="10B981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223760" y="1207008"/>
            <a:ext cx="14630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37360" y="1298448"/>
            <a:ext cx="274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74720" y="1298448"/>
            <a:ext cx="274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1298448"/>
            <a:ext cx="274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49440" y="1298448"/>
            <a:ext cx="274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2377440"/>
            <a:ext cx="2560320" cy="118872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2377440"/>
            <a:ext cx="54864" cy="11887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2" name="Text 20"/>
          <p:cNvSpPr/>
          <p:nvPr/>
        </p:nvSpPr>
        <p:spPr>
          <a:xfrm>
            <a:off x="68580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Simple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5800" y="283464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decision per message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multi-turn loops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2377440"/>
            <a:ext cx="2560320" cy="118872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83280" y="2377440"/>
            <a:ext cx="54864" cy="118872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6" name="Text 24"/>
          <p:cNvSpPr/>
          <p:nvPr/>
        </p:nvSpPr>
        <p:spPr>
          <a:xfrm>
            <a:off x="352044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520440" y="283464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AuthZ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tools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2377440"/>
            <a:ext cx="2560320" cy="118872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377440"/>
            <a:ext cx="54864" cy="11887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0" name="Text 28"/>
          <p:cNvSpPr/>
          <p:nvPr/>
        </p:nvSpPr>
        <p:spPr>
          <a:xfrm>
            <a:off x="6355080" y="24231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Auditable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55080" y="283464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audit trail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Client (Groq/Gemini/Anthropic)  |  Memory Manager  |  Context Loader  |  Scheduler  |  Audit Log  |  ~20 files, ~1,800 LOC, 0 database</a:t>
            </a:r>
            <a:endParaRPr lang="en-US" sz="11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图片 34" descr="Gemini_Generated_Image_bejdadbejdadbej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Method: Single-Decision Design for Trustworthy Daily Use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50580" y="4608195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5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2560320" cy="82296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822960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8" name="Text 6"/>
          <p:cNvSpPr/>
          <p:nvPr/>
        </p:nvSpPr>
        <p:spPr>
          <a:xfrm>
            <a:off x="685800" y="107899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444752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text response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051560"/>
            <a:ext cx="2560320" cy="82296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051560"/>
            <a:ext cx="54864" cy="82296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3520440" y="107899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tool_call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1444752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one local tool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560320" cy="82296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051560"/>
            <a:ext cx="54864" cy="82296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6" name="Text 14"/>
          <p:cNvSpPr/>
          <p:nvPr/>
        </p:nvSpPr>
        <p:spPr>
          <a:xfrm>
            <a:off x="6355080" y="107899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schedule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55080" y="1444752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cron reminder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This Design Fits Daily Use</a:t>
            </a:r>
            <a:endParaRPr lang="en-US" sz="15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2560320"/>
            <a:ext cx="822960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20" name="Shape 18"/>
          <p:cNvSpPr/>
          <p:nvPr/>
        </p:nvSpPr>
        <p:spPr>
          <a:xfrm>
            <a:off x="548640" y="2560320"/>
            <a:ext cx="54864" cy="438912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21" name="Text 19"/>
          <p:cNvSpPr/>
          <p:nvPr/>
        </p:nvSpPr>
        <p:spPr>
          <a:xfrm>
            <a:off x="777240" y="2596896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468880" y="2596896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know exactly what the system will do — one action per message, every time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063240"/>
            <a:ext cx="822960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4" name="Shape 22"/>
          <p:cNvSpPr/>
          <p:nvPr/>
        </p:nvSpPr>
        <p:spPr>
          <a:xfrm>
            <a:off x="548640" y="3063240"/>
            <a:ext cx="54864" cy="438912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5" name="Text 23"/>
          <p:cNvSpPr/>
          <p:nvPr/>
        </p:nvSpPr>
        <p:spPr>
          <a:xfrm>
            <a:off x="777240" y="3099816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Bounded Cost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68880" y="3099816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runaway tool chains — LLM usage proportional to messages 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566160"/>
            <a:ext cx="822960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28" name="Shape 26"/>
          <p:cNvSpPr/>
          <p:nvPr/>
        </p:nvSpPr>
        <p:spPr>
          <a:xfrm>
            <a:off x="548640" y="3566160"/>
            <a:ext cx="54864" cy="438912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9" name="Text 27"/>
          <p:cNvSpPr/>
          <p:nvPr/>
        </p:nvSpPr>
        <p:spPr>
          <a:xfrm>
            <a:off x="777240" y="3602736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Auditable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468880" y="3602736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— users can review what the assistant did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069080"/>
            <a:ext cx="822960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32" name="Shape 30"/>
          <p:cNvSpPr/>
          <p:nvPr/>
        </p:nvSpPr>
        <p:spPr>
          <a:xfrm>
            <a:off x="548640" y="4069080"/>
            <a:ext cx="54864" cy="43891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3" name="Text 31"/>
          <p:cNvSpPr/>
          <p:nvPr/>
        </p:nvSpPr>
        <p:spPr>
          <a:xfrm>
            <a:off x="777240" y="4105656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Safer than Loops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468880" y="4105656"/>
            <a:ext cx="6126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execution eliminates cascading failures from multi-turn hallucination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 descr="Gemini_Generated_Image_17487g17487g174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Method: Local Tools and Memory for Everyday Micro-Tasks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37245" y="462153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6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7" name="Text 5"/>
          <p:cNvSpPr/>
          <p:nvPr/>
        </p:nvSpPr>
        <p:spPr>
          <a:xfrm>
            <a:off x="731520" y="1033272"/>
            <a:ext cx="76809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goal: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frequent, low-friction, everyday micro-tasks — not unrestricted system access.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4206240" cy="658368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600200"/>
            <a:ext cx="54864" cy="658368"/>
          </a:xfrm>
          <a:prstGeom prst="rect">
            <a:avLst/>
          </a:prstGeom>
          <a:solidFill>
            <a:srgbClr val="10B981"/>
          </a:solidFill>
        </p:spPr>
      </p:sp>
      <p:sp>
        <p:nvSpPr>
          <p:cNvPr id="10" name="Text 8"/>
          <p:cNvSpPr/>
          <p:nvPr/>
        </p:nvSpPr>
        <p:spPr>
          <a:xfrm>
            <a:off x="685800" y="1673352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947672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Capture, list, complete tasks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 + completion tracking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350008"/>
            <a:ext cx="4206240" cy="658368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350008"/>
            <a:ext cx="54864" cy="658368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4" name="Text 12"/>
          <p:cNvSpPr/>
          <p:nvPr/>
        </p:nvSpPr>
        <p:spPr>
          <a:xfrm>
            <a:off x="685800" y="242316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Notes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journaling (YYYY-MM-DD.md)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entries + weekly summary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99816"/>
            <a:ext cx="4206240" cy="658368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099816"/>
            <a:ext cx="54864" cy="65836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Text 16"/>
          <p:cNvSpPr/>
          <p:nvPr/>
        </p:nvSpPr>
        <p:spPr>
          <a:xfrm>
            <a:off x="685800" y="317296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447288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time + cron reminders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to WhatsApp on schedule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849624"/>
            <a:ext cx="4206240" cy="658368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849624"/>
            <a:ext cx="54864" cy="658368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2" name="Text 20"/>
          <p:cNvSpPr/>
          <p:nvPr/>
        </p:nvSpPr>
        <p:spPr>
          <a:xfrm>
            <a:off x="685800" y="3922776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File Ops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4197096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Read/write/append/list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Path-restricted to data/ &amp; notes/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0" y="1600200"/>
            <a:ext cx="3749040" cy="1371600"/>
          </a:xfrm>
          <a:prstGeom prst="rect">
            <a:avLst/>
          </a:prstGeom>
          <a:solidFill>
            <a:srgbClr val="F0F4FF"/>
          </a:solidFill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166360" y="16459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Memory System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920240"/>
            <a:ext cx="34747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Long-term facts with timestamps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conversations.md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Recent history, auto-trim at 40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0" y="3154680"/>
            <a:ext cx="3749040" cy="1234440"/>
          </a:xfrm>
          <a:prstGeom prst="rect">
            <a:avLst/>
          </a:prstGeom>
          <a:solidFill>
            <a:srgbClr val="0F1535"/>
          </a:solidFill>
        </p:spPr>
      </p:sp>
      <p:sp>
        <p:nvSpPr>
          <p:cNvPr id="28" name="Text 26"/>
          <p:cNvSpPr/>
          <p:nvPr/>
        </p:nvSpPr>
        <p:spPr>
          <a:xfrm>
            <a:off x="516636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Prompt Design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166360" y="3520440"/>
            <a:ext cx="3474720" cy="777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1. Agent identity + behavior
</a:t>
            </a:r>
            <a:r>
              <a:rPr lang="en-US" sz="1000" dirty="0">
                <a:solidFill>
                  <a:srgbClr val="3B82F6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2. Three JSON response formats
</a:t>
            </a:r>
            <a:r>
              <a:rPr lang="en-US" sz="1000" dirty="0">
                <a:solidFill>
                  <a:srgbClr val="F59E0B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3. {context} = memory + tools + tasks
</a:t>
            </a:r>
            <a:r>
              <a:rPr lang="en-US" sz="1000" dirty="0">
                <a:solidFill>
                  <a:srgbClr val="EF4444"/>
                </a:solidFill>
                <a:latin typeface="Courier New" panose="02070409020205090404" pitchFamily="34" charset="0"/>
                <a:ea typeface="Courier New" panose="02070409020205090404" pitchFamily="34" charset="-122"/>
                <a:cs typeface="Courier New" panose="02070409020205090404" pitchFamily="34" charset="-120"/>
              </a:rPr>
              <a:t>4. "Output ONLY valid JSON"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 descr="Gemini_Generated_Image_ohy67ohy67ohy67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What LiteClaw Can Do in Real Use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50580" y="462153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7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end-to-end with Google Gemini 2.5 Flash (free tier)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84048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8" name="Text 6"/>
          <p:cNvSpPr/>
          <p:nvPr/>
        </p:nvSpPr>
        <p:spPr>
          <a:xfrm>
            <a:off x="685800" y="1408176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Natural language chat in English and Chinese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384048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Text 8"/>
          <p:cNvSpPr/>
          <p:nvPr/>
        </p:nvSpPr>
        <p:spPr>
          <a:xfrm>
            <a:off x="685800" y="1911096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Add/list/complete tasks via natural language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77440"/>
            <a:ext cx="384048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12" name="Text 10"/>
          <p:cNvSpPr/>
          <p:nvPr/>
        </p:nvSpPr>
        <p:spPr>
          <a:xfrm>
            <a:off x="685800" y="2414016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Create daily notes with timestamped entries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384048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4" name="Text 12"/>
          <p:cNvSpPr/>
          <p:nvPr/>
        </p:nvSpPr>
        <p:spPr>
          <a:xfrm>
            <a:off x="685800" y="2916936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Generate weekly journal summaries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1371600"/>
            <a:ext cx="420624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16" name="Text 14"/>
          <p:cNvSpPr/>
          <p:nvPr/>
        </p:nvSpPr>
        <p:spPr>
          <a:xfrm>
            <a:off x="4709160" y="1408176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Set reminders via natural language → cron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1874520"/>
            <a:ext cx="4206240" cy="438912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8" name="Text 16"/>
          <p:cNvSpPr/>
          <p:nvPr/>
        </p:nvSpPr>
        <p:spPr>
          <a:xfrm>
            <a:off x="4709160" y="1911096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Safe file read/write within sandbox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0" y="2377440"/>
            <a:ext cx="4206240" cy="438912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20" name="Text 18"/>
          <p:cNvSpPr/>
          <p:nvPr/>
        </p:nvSpPr>
        <p:spPr>
          <a:xfrm>
            <a:off x="4709160" y="2414016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Auto-reject unauthorized tool requests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566160"/>
            <a:ext cx="8046720" cy="502920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22" name="Text 20"/>
          <p:cNvSpPr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scenarios passed.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LiteClaw handles the kinds of tasks users actually perform in daily life.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 descr="Gemini_Generated_Image_6msx3t6msx3t6ms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Results: Why </a:t>
            </a:r>
            <a:r>
              <a:rPr lang="en-US" sz="2400" b="1" dirty="0">
                <a:solidFill>
                  <a:schemeClr val="bg1"/>
                </a:solidFill>
                <a:effectLst/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</a:t>
            </a:r>
            <a:r>
              <a:rPr 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System Is Technically Credible</a:t>
            </a:r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50580" y="462153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8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Code Complexity</a:t>
            </a:r>
            <a:endParaRPr lang="en-US" sz="1400" b="1" dirty="0">
              <a:solidFill>
                <a:schemeClr val="bg1">
                  <a:lumMod val="95000"/>
                </a:schemeClr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280160"/>
          <a:ext cx="4114800" cy="146304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OpenClaw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AutoGPT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NanoClaw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~3,900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LiteClaw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~1,800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937760" y="9601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5-Layer Security</a:t>
            </a:r>
            <a:endParaRPr lang="en-US" sz="1400" dirty="0"/>
          </a:p>
        </p:txBody>
      </p:sp>
      <p:sp>
        <p:nvSpPr>
          <p:cNvPr id="7" name="Shape 6"/>
          <p:cNvSpPr/>
          <p:nvPr/>
        </p:nvSpPr>
        <p:spPr>
          <a:xfrm>
            <a:off x="4937760" y="1325880"/>
            <a:ext cx="320040" cy="3200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0" name="Text 7"/>
          <p:cNvSpPr/>
          <p:nvPr/>
        </p:nvSpPr>
        <p:spPr>
          <a:xfrm>
            <a:off x="4937760" y="13258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94960" y="132588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Allowlist</a:t>
            </a:r>
            <a:endParaRPr lang="en-US" sz="1300" b="1" dirty="0">
              <a:solidFill>
                <a:schemeClr val="bg1">
                  <a:lumMod val="9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937760" y="1737360"/>
            <a:ext cx="320040" cy="3200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3" name="Text 10"/>
          <p:cNvSpPr/>
          <p:nvPr/>
        </p:nvSpPr>
        <p:spPr>
          <a:xfrm>
            <a:off x="4937760" y="173736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94960" y="17373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Bound</a:t>
            </a:r>
            <a:endParaRPr lang="en-US" sz="1300" b="1" dirty="0">
              <a:solidFill>
                <a:schemeClr val="bg1">
                  <a:lumMod val="9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937760" y="2148840"/>
            <a:ext cx="320040" cy="3200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6" name="Text 13"/>
          <p:cNvSpPr/>
          <p:nvPr/>
        </p:nvSpPr>
        <p:spPr>
          <a:xfrm>
            <a:off x="4937760" y="214884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394960" y="21488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AuthZ Default-Deny</a:t>
            </a:r>
            <a:endParaRPr lang="en-US" sz="1300" b="1" dirty="0">
              <a:solidFill>
                <a:schemeClr val="bg1">
                  <a:lumMod val="9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937760" y="2560320"/>
            <a:ext cx="320040" cy="3200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19" name="Text 16"/>
          <p:cNvSpPr/>
          <p:nvPr/>
        </p:nvSpPr>
        <p:spPr>
          <a:xfrm>
            <a:off x="4937760" y="256032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5603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Sandbox</a:t>
            </a:r>
            <a:endParaRPr lang="en-US" sz="1300" b="1" dirty="0">
              <a:solidFill>
                <a:schemeClr val="bg1">
                  <a:lumMod val="9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937760" y="2971800"/>
            <a:ext cx="320040" cy="3200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22" name="Text 19"/>
          <p:cNvSpPr/>
          <p:nvPr/>
        </p:nvSpPr>
        <p:spPr>
          <a:xfrm>
            <a:off x="4937760" y="297180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394960" y="29718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00" b="1" dirty="0">
              <a:solidFill>
                <a:schemeClr val="bg1">
                  <a:lumMod val="9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48640" y="3566160"/>
            <a:ext cx="8046720" cy="502920"/>
          </a:xfrm>
          <a:prstGeom prst="rect">
            <a:avLst/>
          </a:prstGeom>
          <a:solidFill>
            <a:srgbClr val="F0F4FF"/>
          </a:solidFill>
        </p:spPr>
      </p:sp>
      <p:sp>
        <p:nvSpPr>
          <p:cNvPr id="25" name="Text 22"/>
          <p:cNvSpPr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enough to read in one afternoon  +  Safe enough for personal device  +  Free enough for daily habit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 descr="Gemini_Generated_Image_mvxynmvxynmvxyn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50580" y="462153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9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users interact with LiteClaw: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solidFill>
            <a:srgbClr val="DCF8C6"/>
          </a:solidFill>
        </p:spPr>
      </p:sp>
      <p:sp>
        <p:nvSpPr>
          <p:cNvPr id="8" name="Text 6"/>
          <p:cNvSpPr/>
          <p:nvPr/>
        </p:nvSpPr>
        <p:spPr>
          <a:xfrm>
            <a:off x="685800" y="1389888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“Remind me to submit the report tomorrow at 9am”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4572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55648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Creates cron reminder, delivered via WhatsApp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4572000" cy="320040"/>
          </a:xfrm>
          <a:prstGeom prst="rect">
            <a:avLst/>
          </a:prstGeom>
          <a:solidFill>
            <a:srgbClr val="DCF8C6"/>
          </a:solidFill>
        </p:spPr>
      </p:sp>
      <p:sp>
        <p:nvSpPr>
          <p:cNvPr id="12" name="Text 10"/>
          <p:cNvSpPr/>
          <p:nvPr/>
        </p:nvSpPr>
        <p:spPr>
          <a:xfrm>
            <a:off x="685800" y="2167128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“Help me add a task: buy milk tonight”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4572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32888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Adds to todo list with medium priority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4572000" cy="320040"/>
          </a:xfrm>
          <a:prstGeom prst="rect">
            <a:avLst/>
          </a:prstGeom>
          <a:solidFill>
            <a:srgbClr val="DCF8C6"/>
          </a:solidFill>
        </p:spPr>
      </p:sp>
      <p:sp>
        <p:nvSpPr>
          <p:cNvPr id="16" name="Text 14"/>
          <p:cNvSpPr/>
          <p:nvPr/>
        </p:nvSpPr>
        <p:spPr>
          <a:xfrm>
            <a:off x="685800" y="2944368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“Create a note for today: project idea about AI assistant”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4572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10128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Appends timestamped entry to daily journal</a:t>
            </a:r>
            <a:endParaRPr lang="en-US" sz="1100" dirty="0"/>
          </a:p>
        </p:txBody>
      </p:sp>
      <p:pic>
        <p:nvPicPr>
          <p:cNvPr id="26" name="图片 25" descr="469ec75fbe7faf15cf32135da3603bb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935" y="183515"/>
            <a:ext cx="2151380" cy="4438015"/>
          </a:xfrm>
          <a:prstGeom prst="rect">
            <a:avLst/>
          </a:prstGeom>
        </p:spPr>
      </p:pic>
      <p:sp>
        <p:nvSpPr>
          <p:cNvPr id="21" name="Text 19"/>
          <p:cNvSpPr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</a:t>
            </a:r>
            <a:r>
              <a:rPr lang="en-US" sz="110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→ npm install → .env (free Gemini key) → npm start → scan QR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r>
              <a:rPr lang="en-US" sz="1100" u="sng" dirty="0">
                <a:solidFill>
                  <a:schemeClr val="accent1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github.com/LIJianxuanLeo/liteclaw</a:t>
            </a:r>
            <a:endParaRPr lang="en-US" sz="1100" u="sng" dirty="0">
              <a:solidFill>
                <a:schemeClr val="accent1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innovation is not just in the functions, but in how naturally they fit into an interface people already use every day.</a:t>
            </a:r>
            <a:endParaRPr lang="en-US" sz="1100" i="1" dirty="0">
              <a:solidFill>
                <a:schemeClr val="bg1">
                  <a:lumMod val="8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Natural WhatsApp Interaction in Daily Life</a:t>
            </a:r>
            <a:endParaRPr lang="en-US" sz="2400" b="1" dirty="0">
              <a:solidFill>
                <a:schemeClr val="bg1"/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 descr="Gemini_Generated_Image_fu1i2afu1i2afu1i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2865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3B82F6">
              <a:alpha val="15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Practicality Matters for Personal AI 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solidFill>
            <a:srgbClr val="3B82F6">
              <a:alpha val="3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731520" y="1234440"/>
            <a:ext cx="7680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AI assistant becomes more practical when it is lightweight, bounded and trustworthy, and reachable through everyday messaging.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We Showed</a:t>
            </a:r>
            <a:endParaRPr lang="en-US" sz="1600" b="1" dirty="0">
              <a:solidFill>
                <a:schemeClr val="accent1">
                  <a:lumMod val="20000"/>
                  <a:lumOff val="80000"/>
                </a:schemeClr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374904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 code reduction vs. OpenClaw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functional tests passed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5-layer security model validated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LLM + WhatsApp = daily habit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4880" y="237744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Future Work</a:t>
            </a:r>
            <a:endParaRPr lang="en-US" sz="1600" b="1" dirty="0">
              <a:solidFill>
                <a:schemeClr val="accent1">
                  <a:lumMod val="20000"/>
                  <a:lumOff val="80000"/>
                </a:schemeClr>
              </a:solidFill>
              <a:latin typeface="Georgia" panose="02040502050405090303" pitchFamily="34" charset="0"/>
              <a:ea typeface="Georgia" panose="02040502050405090303" pitchFamily="34" charset="-122"/>
              <a:cs typeface="Georgia" panose="02040502050405090303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46320" y="2788920"/>
            <a:ext cx="374904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(Telegram, Signal)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message transcription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memory retrieval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session isolation</a:t>
            </a:r>
            <a:endParaRPr lang="en-US" sz="1300" dirty="0">
              <a:solidFill>
                <a:schemeClr val="accent1">
                  <a:lumMod val="20000"/>
                  <a:lumOff val="8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github.com/LIJianxuanLeo/liteclaw</a:t>
            </a:r>
            <a:endParaRPr lang="en-US" sz="1400" b="1" u="sng" dirty="0">
              <a:solidFill>
                <a:schemeClr val="accent1">
                  <a:lumMod val="20000"/>
                  <a:lumOff val="8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77250" y="4621530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bg1"/>
                </a:solidFill>
              </a:rPr>
              <a:t>10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4955</Words>
  <Application>WPS 文字</Application>
  <PresentationFormat>On-screen Show (16:9)</PresentationFormat>
  <Paragraphs>363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2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Courier New</vt:lpstr>
      <vt:lpstr>Courier New</vt:lpstr>
      <vt:lpstr>Courier New</vt:lpstr>
      <vt:lpstr>微软雅黑</vt:lpstr>
      <vt:lpstr>汉仪旗黑</vt:lpstr>
      <vt:lpstr>汉仪书宋二KW</vt:lpstr>
      <vt:lpstr>宋体</vt:lpstr>
      <vt:lpstr>Arial Unicode MS</vt:lpstr>
      <vt:lpstr>等线</vt:lpstr>
      <vt:lpstr>汉仪中等线KW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LiteClaw: A Lightweight WhatsApp-Driven GenAI Agent Framework</dc:title>
  <dc:creator>LiteClaw Team</dc:creator>
  <dc:subject>PptxGenJS Presentation</dc:subject>
  <cp:lastModifiedBy>159******35</cp:lastModifiedBy>
  <cp:revision>6</cp:revision>
  <dcterms:created xsi:type="dcterms:W3CDTF">2026-04-09T08:28:59Z</dcterms:created>
  <dcterms:modified xsi:type="dcterms:W3CDTF">2026-04-09T08:28:59Z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2052-12.1.25201.25201</vt:lpwstr>
  </property>
  <property fmtid="{D5CDD505-2E9C-101B-9397-08002B2CF9AE}" pid="3" name="ICV">
    <vt:lpwstr>4F789A919BF107F39F56D6694FB9394D_42</vt:lpwstr>
  </property>
</Properties>
</file>