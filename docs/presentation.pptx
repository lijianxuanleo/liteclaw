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3B82F6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3200400"/>
            <a:ext cx="3657600" cy="3657600"/>
          </a:xfrm>
          <a:prstGeom prst="ellipse">
            <a:avLst/>
          </a:prstGeom>
          <a:solidFill>
            <a:srgbClr val="3B82F6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LiteClaw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Lightweight WhatsApp-Driven GenAI Agent Framework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Decision Agent with Local Tool Execution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3474720"/>
            <a:ext cx="27432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ROSE5780 GenAI Technologies and RPA  |  April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Background &amp; Existing Problem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804672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Background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4114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are evolving from passive text generators to autonomous tool-using systems (ReAct paradigm)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WhatsApp: 2B+ active users — the most natural channel for personal AI assistance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lightweight framework delivers AI natively via WhatsApp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937760" y="10058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Existing Problems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937760" y="1417320"/>
            <a:ext cx="365760" cy="36576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40680" y="139903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Complexity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40680" y="16184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OpenClaw: 500K LOC, 70+ deps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937760" y="2011680"/>
            <a:ext cx="365760" cy="36576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40680" y="199339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Safety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40680" y="22128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Shell/web tools risk destructive ops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937760" y="2606040"/>
            <a:ext cx="365760" cy="36576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40680" y="258775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Accessibility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40680" y="28072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Web/CLI agents need a computer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937760" y="3200400"/>
            <a:ext cx="365760" cy="36576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2" name="Text 20"/>
          <p:cNvSpPr/>
          <p:nvPr/>
        </p:nvSpPr>
        <p:spPr>
          <a:xfrm>
            <a:off x="493776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0680" y="318211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40680" y="34015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require paid APIs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3840480"/>
            <a:ext cx="8046720" cy="6400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3886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Question: </a:t>
            </a:r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sub-2,000-line framework deliver secure, WhatsApp-native AI assistance with free LLM support?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Literature Survey &amp; Idea of Solution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804672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Existing AI Agent Frameworks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4114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731520"/>
                <a:gridCol w="914400"/>
                <a:gridCol w="914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WhatsApp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LLM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OpenClaw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AutoGPT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LangChain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Plugin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NanoClaw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~3.9K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BabyAGI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3246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WhatsApp Bot Market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3547872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Twilio, WATI, Respond.io — commercial, no agent reasoning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bots, no LLM integration or tool execution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37760" y="1005840"/>
            <a:ext cx="3840480" cy="3474720"/>
          </a:xfrm>
          <a:prstGeom prst="rect">
            <a:avLst/>
          </a:prstGeom>
          <a:solidFill>
            <a:srgbClr val="F0F4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937760" y="1005840"/>
            <a:ext cx="54864" cy="3474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9"/>
          <p:cNvSpPr/>
          <p:nvPr/>
        </p:nvSpPr>
        <p:spPr>
          <a:xfrm>
            <a:off x="5120640" y="10972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Solution: LiteClaw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120640" y="1508760"/>
            <a:ext cx="347472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~1,800 lines of TypeScript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WhatsApp-native delivery via Baileys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Single-decision architecture (no unbounded loops)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LLM support (Groq, Gemini)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local-only tools with Zod validation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Default-deny AuthZ permission wall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 scheduler for proactive reminders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Architecture &amp; Block Diagram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804672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82880" y="1051560"/>
            <a:ext cx="1371600" cy="640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182880" y="1069848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828800" y="1051560"/>
            <a:ext cx="1371600" cy="6400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0" y="1069848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4720" y="1051560"/>
            <a:ext cx="1371600" cy="6400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069848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AuthZ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20640" y="1051560"/>
            <a:ext cx="1371600" cy="6400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5120640" y="1069848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66560" y="1051560"/>
            <a:ext cx="1371600" cy="640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1069848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554480" y="1371600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1371600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46320" y="1371600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2240" y="1371600"/>
            <a:ext cx="27432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2103120"/>
            <a:ext cx="164592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760" y="21488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Client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5760" y="25603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/ Gemini / Anthropic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286000" y="2103120"/>
            <a:ext cx="164592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286000" y="21488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Memory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286000" y="25603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Flat-file MD persistence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06240" y="2103120"/>
            <a:ext cx="164592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206240" y="21488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Loader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206240" y="25603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prompt injection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26480" y="2103120"/>
            <a:ext cx="164592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0B98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126480" y="21488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Scheduler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126480" y="25603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node-cron jobs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5760" y="3383280"/>
            <a:ext cx="164592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65760" y="3429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 Parser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65760" y="3840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Zod JSON validation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286000" y="3383280"/>
            <a:ext cx="164592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2286000" y="3429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 Log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2286000" y="3840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logging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206240" y="3383280"/>
            <a:ext cx="164592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8B5CF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206240" y="3429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File Ops / Todo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206240" y="3840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Path-restricted tools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126480" y="3383280"/>
            <a:ext cx="1645920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8B5CF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126480" y="3429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Notes / Time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126480" y="3840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+ reminders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65760" y="45720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Message → Agent → AuthZ → Tool → Response  |  ~20 files, ~1,800 LOC, 0 database deps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Theory &amp; Methodology: Single-Decision Model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804672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2560320" cy="1005840"/>
          </a:xfrm>
          <a:prstGeom prst="rect">
            <a:avLst/>
          </a:prstGeom>
          <a:solidFill>
            <a:srgbClr val="F0F4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51560"/>
            <a:ext cx="54864" cy="10058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0789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reply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13533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{"type":"reply","text":"..."}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16276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text response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3280" y="1051560"/>
            <a:ext cx="2560320" cy="1005840"/>
          </a:xfrm>
          <a:prstGeom prst="rect">
            <a:avLst/>
          </a:prstGeom>
          <a:solidFill>
            <a:srgbClr val="F0F4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83280" y="1051560"/>
            <a:ext cx="54864" cy="10058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3520440" y="10789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tool_call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20440" y="13533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{"type":"tool_call","tool":"..."}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20440" y="16276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one local tool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1051560"/>
            <a:ext cx="2560320" cy="1005840"/>
          </a:xfrm>
          <a:prstGeom prst="rect">
            <a:avLst/>
          </a:prstGeom>
          <a:solidFill>
            <a:srgbClr val="F0F4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1051560"/>
            <a:ext cx="54864" cy="10058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10789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schedule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55080" y="13533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{"type":"schedule","job":{...}}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55080" y="16276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cron reminder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" y="2331720"/>
            <a:ext cx="78638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outputs exactly ONE JSON decision per turn (validated by Zod discriminated union)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Replaces multi-turn ReAct loop — each message = 1 LLM call + at most 1 tool execution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AuthZ Wall: default-deny permission check before every tool execution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 categories: file_ops, todo, notes, time | Forbidden: shell, network, exec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DecisionParseError → safe fallback reply (never crashes, never retries unbounded)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Benefits: predictable, auditable, bounded resource consumption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Theory &amp; Methodology: Tools, Memory &amp; Prompt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804672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005840"/>
            <a:ext cx="4206240" cy="685800"/>
          </a:xfrm>
          <a:prstGeom prst="rect">
            <a:avLst/>
          </a:prstGeom>
          <a:solidFill>
            <a:srgbClr val="F0F4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05840"/>
            <a:ext cx="54864" cy="6858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07899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File Ops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1389888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Read/write/append/list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Path-restricted to data/ &amp; notes/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4206240" cy="685800"/>
          </a:xfrm>
          <a:prstGeom prst="rect">
            <a:avLst/>
          </a:prstGeom>
          <a:solidFill>
            <a:srgbClr val="F0F4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783080"/>
            <a:ext cx="54864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85623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" y="2167128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Add/list/complete tasks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storage, UUID IDs, priorities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560320"/>
            <a:ext cx="4206240" cy="685800"/>
          </a:xfrm>
          <a:prstGeom prst="rect">
            <a:avLst/>
          </a:prstGeom>
          <a:solidFill>
            <a:srgbClr val="F0F4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560320"/>
            <a:ext cx="54864" cy="6858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263347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" y="2944368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journal (YYYY-MM-DD.md)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summaries, timestamps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337560"/>
            <a:ext cx="4206240" cy="685800"/>
          </a:xfrm>
          <a:prstGeom prst="rect">
            <a:avLst/>
          </a:prstGeom>
          <a:solidFill>
            <a:srgbClr val="F0F4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3337560"/>
            <a:ext cx="54864" cy="685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41071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85800" y="3721608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time, cron reminders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scheduler reload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0" y="1005840"/>
            <a:ext cx="3749040" cy="1463040"/>
          </a:xfrm>
          <a:prstGeom prst="rect">
            <a:avLst/>
          </a:prstGeom>
          <a:solidFill>
            <a:srgbClr val="F0F4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166360" y="1051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Memory System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166360" y="1325880"/>
            <a:ext cx="3474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memory.md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Long-term facts with timestamps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conversations.md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Recent history, auto-trim at 40 entries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ContextLoader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Injects memory + tools + tasks + reminders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0" y="2651760"/>
            <a:ext cx="3749040" cy="1691640"/>
          </a:xfrm>
          <a:prstGeom prst="rect">
            <a:avLst/>
          </a:prstGeom>
          <a:solidFill>
            <a:srgbClr val="0F1535"/>
          </a:solidFill>
          <a:ln/>
        </p:spPr>
      </p:sp>
      <p:sp>
        <p:nvSpPr>
          <p:cNvPr id="26" name="Text 24"/>
          <p:cNvSpPr/>
          <p:nvPr/>
        </p:nvSpPr>
        <p:spPr>
          <a:xfrm>
            <a:off x="5166360" y="2697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Prompt Design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166360" y="301752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Agent identity + behavior
</a:t>
            </a:r>
            <a:pPr indent="0" marL="0">
              <a:buNone/>
            </a:pPr>
            <a:r>
              <a:rPr lang="en-US" sz="1000" dirty="0">
                <a:solidFill>
                  <a:srgbClr val="3B8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Three JSON response formats
</a:t>
            </a:r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{context} injection
</a:t>
            </a:r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"Output ONLY valid JSON"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Results: Functional Testing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804672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9601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Test with Google Gemini 2.5 Flash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9144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Scenario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Language Chat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Multi-language (EN/CN) auto-detection and response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Management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task via "help me add a task: buy milk" → list → complete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Journaling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note, append timestamped entry, weekly summary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Scheduled Reminders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cron reminder → delivered via WhatsApp on schedule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Operations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Read/write/append files within data/ and notes/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AuthZ Enforcement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 shell/network tool calls, denial logged to audit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Self-Chat Mode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WhatsApp LID format handling, bot reply loop prevention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434340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7 test scenarios passed with Gemini 2.5 Flash (free tier)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Results: Code Metrics &amp; Security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804672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960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 Complexity Comparison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4114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OpenClaw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AutoGPT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NanoClaw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~3,900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LiteClaw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~1,800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93776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5-Layer Security Model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937760" y="1325880"/>
            <a:ext cx="320040" cy="3200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0" name="Text 7"/>
          <p:cNvSpPr/>
          <p:nvPr/>
        </p:nvSpPr>
        <p:spPr>
          <a:xfrm>
            <a:off x="4937760" y="13258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394960" y="129844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Allowlist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394960" y="149047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permitted phone numbers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937760" y="1828800"/>
            <a:ext cx="320040" cy="3200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1"/>
          <p:cNvSpPr/>
          <p:nvPr/>
        </p:nvSpPr>
        <p:spPr>
          <a:xfrm>
            <a:off x="4937760" y="18288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394960" y="18013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Single-Decision Bound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394960" y="199339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LLM call, max 1 tool per msg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937760" y="2331720"/>
            <a:ext cx="320040" cy="3200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8" name="Text 15"/>
          <p:cNvSpPr/>
          <p:nvPr/>
        </p:nvSpPr>
        <p:spPr>
          <a:xfrm>
            <a:off x="4937760" y="2331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394960" y="230428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AuthZ Default-Deny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394960" y="249631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tools rejected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937760" y="2834640"/>
            <a:ext cx="320040" cy="3200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2" name="Text 19"/>
          <p:cNvSpPr/>
          <p:nvPr/>
        </p:nvSpPr>
        <p:spPr>
          <a:xfrm>
            <a:off x="4937760" y="2834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394960" y="280720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Sandbox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394960" y="299923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limited to data/ &amp; notes/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937760" y="3337560"/>
            <a:ext cx="320040" cy="3200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6" name="Text 23"/>
          <p:cNvSpPr/>
          <p:nvPr/>
        </p:nvSpPr>
        <p:spPr>
          <a:xfrm>
            <a:off x="493776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394960" y="331012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394960" y="350215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logged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48640" y="32004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Multi-Provider LLM Support</a:t>
            </a:r>
            <a:endParaRPr lang="en-US" sz="14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743200"/>
                <a:gridCol w="914400"/>
                <a:gridCol w="21031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Gemini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gemini-2.5-flash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OpenAI-compatible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llama-3.3-70b-versatile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OpenAI-compatible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claude-sonnet-4-20250514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Native SDK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Results: Demo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804672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9601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</a:t>
            </a:r>
            <a:pPr indent="0" marL="0">
              <a:buNone/>
            </a:pPr>
            <a:r>
              <a:rPr lang="en-US" sz="14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github.com/LIJianxuanLeo/liteclaw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2801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clone → npm install → .env (free Gemini key) → npm start → scan QR → chat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691640"/>
            <a:ext cx="3840480" cy="2286000"/>
          </a:xfrm>
          <a:prstGeom prst="rect">
            <a:avLst/>
          </a:prstGeom>
          <a:solidFill>
            <a:srgbClr val="F0F4FF"/>
          </a:solidFill>
          <a:ln w="6350">
            <a:solidFill>
              <a:srgbClr val="94A3B8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48640" y="1691640"/>
            <a:ext cx="3840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[Terminal: QR code + connection log]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691640"/>
            <a:ext cx="4023360" cy="2286000"/>
          </a:xfrm>
          <a:prstGeom prst="rect">
            <a:avLst/>
          </a:prstGeom>
          <a:solidFill>
            <a:srgbClr val="F0F4FF"/>
          </a:solidFill>
          <a:ln w="6350">
            <a:solidFill>
              <a:srgbClr val="94A3B8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754880" y="1691640"/>
            <a:ext cx="40233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[WhatsApp chat: AI conversation + tool call demo]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160520"/>
            <a:ext cx="8046720" cy="457200"/>
          </a:xfrm>
          <a:prstGeom prst="rect">
            <a:avLst/>
          </a:prstGeom>
          <a:solidFill>
            <a:srgbClr val="F0F4FF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187952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video: </a:t>
            </a:r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Zoom/Teams recording link here — max 10 mins]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914400"/>
            <a:ext cx="3657600" cy="3657600"/>
          </a:xfrm>
          <a:prstGeom prst="ellipse">
            <a:avLst/>
          </a:prstGeom>
          <a:solidFill>
            <a:srgbClr val="3B82F6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 &amp; Future Work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22860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188720"/>
            <a:ext cx="8046720" cy="640080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2344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~1,800 lines of TypeScript delivers secure WhatsApp AI assistance with free LLM support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103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Achieved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37490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99.6% code reduction vs. OpenClaw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Single-decision architecture + AuthZ wall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LLM support (Groq, Gemini)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delivery + cron reminders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7 functional tests passed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2103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46320" y="2514600"/>
            <a:ext cx="37490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Multi-platform: Telegram, Signal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message transcription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Multi-user auth &amp; session isolation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RAG-based memory retrieval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collaboration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44805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github.com/LIJianxuanLeo/liteclaw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LiteClaw: A Lightweight WhatsApp-Driven GenAI Agent Framework</dc:title>
  <dc:subject>PptxGenJS Presentation</dc:subject>
  <dc:creator>LiteClaw Team</dc:creator>
  <cp:lastModifiedBy>LiteClaw Team</cp:lastModifiedBy>
  <cp:revision>1</cp:revision>
  <dcterms:created xsi:type="dcterms:W3CDTF">2026-04-05T15:44:49Z</dcterms:created>
  <dcterms:modified xsi:type="dcterms:W3CDTF">2026-04-05T15:44:49Z</dcterms:modified>
</cp:coreProperties>
</file>